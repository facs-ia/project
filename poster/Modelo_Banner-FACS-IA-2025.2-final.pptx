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32404050" cy="43205400"/>
  <p:notesSz cx="6858000" cy="9144000"/>
  <p:defaultTextStyle>
    <a:defPPr>
      <a:defRPr lang="pt-BR"/>
    </a:defPPr>
    <a:lvl1pPr marL="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1pPr>
    <a:lvl2pPr marL="216027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2pPr>
    <a:lvl3pPr marL="432054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3pPr>
    <a:lvl4pPr marL="648081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4pPr>
    <a:lvl5pPr marL="864108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5pPr>
    <a:lvl6pPr marL="1080135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6pPr>
    <a:lvl7pPr marL="1296162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7pPr>
    <a:lvl8pPr marL="1512189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8pPr>
    <a:lvl9pPr marL="1728216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8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DFA0B4-13E0-F08D-1B1D-291B902E44C2}" v="268" dt="2025-09-26T00:55:24.5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759" autoAdjust="0"/>
    <p:restoredTop sz="95287" autoAdjust="0"/>
  </p:normalViewPr>
  <p:slideViewPr>
    <p:cSldViewPr>
      <p:cViewPr>
        <p:scale>
          <a:sx n="33" d="100"/>
          <a:sy n="33" d="100"/>
        </p:scale>
        <p:origin x="432" y="-5556"/>
      </p:cViewPr>
      <p:guideLst>
        <p:guide orient="horz" pos="13608"/>
        <p:guide pos="10206"/>
      </p:guideLst>
    </p:cSldViewPr>
  </p:slideViewPr>
  <p:outlineViewPr>
    <p:cViewPr>
      <p:scale>
        <a:sx n="33" d="100"/>
        <a:sy n="33" d="100"/>
      </p:scale>
      <p:origin x="0" y="115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ILTON DE JESUS CERQUEIRA JUNIOR" userId="S::adailton.cerqueira@ulife.com.br::4fde272d-0841-4e9c-8bd1-5d76f6d1716c" providerId="AD" clId="Web-{04DFA0B4-13E0-F08D-1B1D-291B902E44C2}"/>
    <pc:docChg chg="modSld">
      <pc:chgData name="ADAILTON DE JESUS CERQUEIRA JUNIOR" userId="S::adailton.cerqueira@ulife.com.br::4fde272d-0841-4e9c-8bd1-5d76f6d1716c" providerId="AD" clId="Web-{04DFA0B4-13E0-F08D-1B1D-291B902E44C2}" dt="2025-09-26T00:55:24.553" v="243" actId="20577"/>
      <pc:docMkLst>
        <pc:docMk/>
      </pc:docMkLst>
      <pc:sldChg chg="addSp delSp modSp">
        <pc:chgData name="ADAILTON DE JESUS CERQUEIRA JUNIOR" userId="S::adailton.cerqueira@ulife.com.br::4fde272d-0841-4e9c-8bd1-5d76f6d1716c" providerId="AD" clId="Web-{04DFA0B4-13E0-F08D-1B1D-291B902E44C2}" dt="2025-09-26T00:55:24.553" v="243" actId="20577"/>
        <pc:sldMkLst>
          <pc:docMk/>
          <pc:sldMk cId="0" sldId="257"/>
        </pc:sldMkLst>
        <pc:spChg chg="mod">
          <ac:chgData name="ADAILTON DE JESUS CERQUEIRA JUNIOR" userId="S::adailton.cerqueira@ulife.com.br::4fde272d-0841-4e9c-8bd1-5d76f6d1716c" providerId="AD" clId="Web-{04DFA0B4-13E0-F08D-1B1D-291B902E44C2}" dt="2025-09-26T00:55:24.553" v="24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ADAILTON DE JESUS CERQUEIRA JUNIOR" userId="S::adailton.cerqueira@ulife.com.br::4fde272d-0841-4e9c-8bd1-5d76f6d1716c" providerId="AD" clId="Web-{04DFA0B4-13E0-F08D-1B1D-291B902E44C2}" dt="2025-09-26T00:47:39.551" v="74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ADAILTON DE JESUS CERQUEIRA JUNIOR" userId="S::adailton.cerqueira@ulife.com.br::4fde272d-0841-4e9c-8bd1-5d76f6d1716c" providerId="AD" clId="Web-{04DFA0B4-13E0-F08D-1B1D-291B902E44C2}" dt="2025-09-26T00:53:14.295" v="231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ADAILTON DE JESUS CERQUEIRA JUNIOR" userId="S::adailton.cerqueira@ulife.com.br::4fde272d-0841-4e9c-8bd1-5d76f6d1716c" providerId="AD" clId="Web-{04DFA0B4-13E0-F08D-1B1D-291B902E44C2}" dt="2025-09-26T00:48:03.584" v="78" actId="20577"/>
          <ac:spMkLst>
            <pc:docMk/>
            <pc:sldMk cId="0" sldId="257"/>
            <ac:spMk id="17" creationId="{00000000-0000-0000-0000-000000000000}"/>
          </ac:spMkLst>
        </pc:spChg>
        <pc:graphicFrameChg chg="mod modGraphic">
          <ac:chgData name="ADAILTON DE JESUS CERQUEIRA JUNIOR" userId="S::adailton.cerqueira@ulife.com.br::4fde272d-0841-4e9c-8bd1-5d76f6d1716c" providerId="AD" clId="Web-{04DFA0B4-13E0-F08D-1B1D-291B902E44C2}" dt="2025-09-26T00:51:33.832" v="200" actId="1076"/>
          <ac:graphicFrameMkLst>
            <pc:docMk/>
            <pc:sldMk cId="0" sldId="257"/>
            <ac:graphicFrameMk id="8" creationId="{00000000-0000-0000-0000-000000000000}"/>
          </ac:graphicFrameMkLst>
        </pc:graphicFrameChg>
        <pc:graphicFrameChg chg="del">
          <ac:chgData name="ADAILTON DE JESUS CERQUEIRA JUNIOR" userId="S::adailton.cerqueira@ulife.com.br::4fde272d-0841-4e9c-8bd1-5d76f6d1716c" providerId="AD" clId="Web-{04DFA0B4-13E0-F08D-1B1D-291B902E44C2}" dt="2025-09-26T00:48:25.008" v="81"/>
          <ac:graphicFrameMkLst>
            <pc:docMk/>
            <pc:sldMk cId="0" sldId="257"/>
            <ac:graphicFrameMk id="10" creationId="{00000000-0000-0000-0000-000000000000}"/>
          </ac:graphicFrameMkLst>
        </pc:graphicFrameChg>
        <pc:picChg chg="add del mod">
          <ac:chgData name="ADAILTON DE JESUS CERQUEIRA JUNIOR" userId="S::adailton.cerqueira@ulife.com.br::4fde272d-0841-4e9c-8bd1-5d76f6d1716c" providerId="AD" clId="Web-{04DFA0B4-13E0-F08D-1B1D-291B902E44C2}" dt="2025-09-26T00:31:41.045" v="9"/>
          <ac:picMkLst>
            <pc:docMk/>
            <pc:sldMk cId="0" sldId="257"/>
            <ac:picMk id="6" creationId="{2F7AA305-31C1-24B8-58D8-4A041008685B}"/>
          </ac:picMkLst>
        </pc:picChg>
        <pc:picChg chg="add mod">
          <ac:chgData name="ADAILTON DE JESUS CERQUEIRA JUNIOR" userId="S::adailton.cerqueira@ulife.com.br::4fde272d-0841-4e9c-8bd1-5d76f6d1716c" providerId="AD" clId="Web-{04DFA0B4-13E0-F08D-1B1D-291B902E44C2}" dt="2025-09-26T00:33:36.697" v="21" actId="1076"/>
          <ac:picMkLst>
            <pc:docMk/>
            <pc:sldMk cId="0" sldId="257"/>
            <ac:picMk id="7" creationId="{DE0425B4-4BBE-4119-F4E3-54908A697293}"/>
          </ac:picMkLst>
        </pc:picChg>
        <pc:picChg chg="add mod">
          <ac:chgData name="ADAILTON DE JESUS CERQUEIRA JUNIOR" userId="S::adailton.cerqueira@ulife.com.br::4fde272d-0841-4e9c-8bd1-5d76f6d1716c" providerId="AD" clId="Web-{04DFA0B4-13E0-F08D-1B1D-291B902E44C2}" dt="2025-09-26T00:33:43.447" v="22" actId="1076"/>
          <ac:picMkLst>
            <pc:docMk/>
            <pc:sldMk cId="0" sldId="257"/>
            <ac:picMk id="11" creationId="{16012876-1C84-8DE5-9B13-5905E424B1C3}"/>
          </ac:picMkLst>
        </pc:picChg>
        <pc:picChg chg="del">
          <ac:chgData name="ADAILTON DE JESUS CERQUEIRA JUNIOR" userId="S::adailton.cerqueira@ulife.com.br::4fde272d-0841-4e9c-8bd1-5d76f6d1716c" providerId="AD" clId="Web-{04DFA0B4-13E0-F08D-1B1D-291B902E44C2}" dt="2025-09-26T00:28:06.861" v="0"/>
          <ac:picMkLst>
            <pc:docMk/>
            <pc:sldMk cId="0" sldId="257"/>
            <ac:picMk id="12" creationId="{00000000-0000-0000-0000-000000000000}"/>
          </ac:picMkLst>
        </pc:picChg>
        <pc:picChg chg="add mod">
          <ac:chgData name="ADAILTON DE JESUS CERQUEIRA JUNIOR" userId="S::adailton.cerqueira@ulife.com.br::4fde272d-0841-4e9c-8bd1-5d76f6d1716c" providerId="AD" clId="Web-{04DFA0B4-13E0-F08D-1B1D-291B902E44C2}" dt="2025-09-26T00:53:20.404" v="233" actId="1076"/>
          <ac:picMkLst>
            <pc:docMk/>
            <pc:sldMk cId="0" sldId="257"/>
            <ac:picMk id="13" creationId="{22B7F8E9-EA4A-C4A3-891A-40C2F5F7723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30304" y="13421680"/>
            <a:ext cx="27543443" cy="926115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860608" y="24483060"/>
            <a:ext cx="22682835" cy="110413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20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480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641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801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961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1218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28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88D9-6F99-4774-8F18-D88D64460132}" type="datetimeFigureOut">
              <a:rPr lang="pt-BR" smtClean="0"/>
              <a:pPr/>
              <a:t>21/11/2025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5AF6-92C6-4656-8B3D-FE2340DD82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 vert="horz" lIns="432054" tIns="216027" rIns="432054" bIns="216027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</p:spPr>
        <p:txBody>
          <a:bodyPr vert="horz" lIns="432054" tIns="216027" rIns="432054" bIns="216027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620203" y="40045008"/>
            <a:ext cx="7560945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l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088D9-6F99-4774-8F18-D88D64460132}" type="datetimeFigureOut">
              <a:rPr lang="pt-BR" smtClean="0"/>
              <a:pPr/>
              <a:t>21/11/2025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1071384" y="40045008"/>
            <a:ext cx="10261283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ct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23222903" y="40045008"/>
            <a:ext cx="7560945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A5AF6-92C6-4656-8B3D-FE2340DD82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320540" rtl="0" eaLnBrk="1" latinLnBrk="0" hangingPunct="1">
        <a:spcBef>
          <a:spcPct val="0"/>
        </a:spcBef>
        <a:buNone/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203" indent="-1620203" algn="l" defTabSz="4320540" rtl="0" eaLnBrk="1" latinLnBrk="0" hangingPunct="1">
        <a:spcBef>
          <a:spcPct val="20000"/>
        </a:spcBef>
        <a:buFont typeface="Arial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10439" indent="-1350169" algn="l" defTabSz="4320540" rtl="0" eaLnBrk="1" latinLnBrk="0" hangingPunct="1">
        <a:spcBef>
          <a:spcPct val="20000"/>
        </a:spcBef>
        <a:buFont typeface="Arial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67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945" indent="-1080135" algn="l" defTabSz="4320540" rtl="0" eaLnBrk="1" latinLnBrk="0" hangingPunct="1">
        <a:spcBef>
          <a:spcPct val="20000"/>
        </a:spcBef>
        <a:buFont typeface="Arial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21215" indent="-1080135" algn="l" defTabSz="4320540" rtl="0" eaLnBrk="1" latinLnBrk="0" hangingPunct="1">
        <a:spcBef>
          <a:spcPct val="20000"/>
        </a:spcBef>
        <a:buFont typeface="Arial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8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5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2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6229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-288332"/>
            <a:ext cx="32412863" cy="4320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61806" y="4176148"/>
            <a:ext cx="30749932" cy="5790796"/>
          </a:xfrm>
        </p:spPr>
        <p:txBody>
          <a:bodyPr>
            <a:normAutofit fontScale="90000"/>
          </a:bodyPr>
          <a:lstStyle/>
          <a:p>
            <a:pPr hangingPunct="0"/>
            <a:r>
              <a:rPr lang="pt-BR" sz="5400" b="1" dirty="0"/>
              <a:t>APRENDIZADO DE MÁQUINA PARA DETECÇÃO DE </a:t>
            </a:r>
            <a:br>
              <a:rPr lang="pt-BR" sz="5400" b="1" dirty="0"/>
            </a:br>
            <a:r>
              <a:rPr lang="pt-BR" sz="5400" b="1" dirty="0"/>
              <a:t>FRAUDES EM TRANSAÇÕES COM CARTÕES DE CRÉDITO</a:t>
            </a:r>
            <a:br>
              <a:rPr lang="pt-BR" sz="5400" b="1" dirty="0"/>
            </a:br>
            <a:br>
              <a:rPr lang="pt-BR" sz="5400" dirty="0"/>
            </a:br>
            <a:r>
              <a:rPr lang="pt-BR" sz="4400" b="1" dirty="0"/>
              <a:t>George </a:t>
            </a:r>
            <a:r>
              <a:rPr lang="pt-BR" sz="4400" b="1" dirty="0" err="1"/>
              <a:t>Gebers</a:t>
            </a:r>
            <a:r>
              <a:rPr lang="pt-BR" sz="4400" b="1" dirty="0"/>
              <a:t> </a:t>
            </a:r>
            <a:r>
              <a:rPr lang="pt-BR" sz="4400" b="1" dirty="0" err="1"/>
              <a:t>Brizolla</a:t>
            </a:r>
            <a:r>
              <a:rPr lang="pt-BR" sz="4400" b="1" dirty="0"/>
              <a:t>; Júlio César de Jesus Barreto Souza; Marcelo Miranda Cavalcanti; </a:t>
            </a:r>
            <a:br>
              <a:rPr lang="pt-BR" sz="4400" b="1" dirty="0"/>
            </a:br>
            <a:r>
              <a:rPr lang="pt-BR" sz="4400" b="1" dirty="0"/>
              <a:t>Pedro Lima </a:t>
            </a:r>
            <a:r>
              <a:rPr lang="pt-BR" sz="4400" b="1" dirty="0" err="1"/>
              <a:t>Vergne</a:t>
            </a:r>
            <a:r>
              <a:rPr lang="pt-BR" sz="4400" b="1" dirty="0"/>
              <a:t>; Zanoni Campos Fernandes; Orientador: Adailton de Jesus Cerqueira Júnior.</a:t>
            </a:r>
            <a:br>
              <a:rPr lang="pt-BR" sz="4400" b="1" dirty="0"/>
            </a:br>
            <a:br>
              <a:rPr lang="pt-BR" sz="4400" b="1" dirty="0"/>
            </a:br>
            <a:r>
              <a:rPr lang="pt-BR" sz="4400" dirty="0"/>
              <a:t>Universidade Salvador – Salvador – BA – Brasil</a:t>
            </a:r>
            <a:br>
              <a:rPr lang="pt-BR" sz="9600" dirty="0"/>
            </a:br>
            <a:endParaRPr lang="pt-BR" sz="44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96254" y="9721380"/>
            <a:ext cx="14785564" cy="28081844"/>
          </a:xfrm>
          <a:ln>
            <a:noFill/>
          </a:ln>
        </p:spPr>
        <p:txBody>
          <a:bodyPr vert="horz" lIns="432054" tIns="216027" rIns="432054" bIns="216027" rtlCol="0" anchor="t">
            <a:noAutofit/>
          </a:bodyPr>
          <a:lstStyle/>
          <a:p>
            <a:pPr algn="just">
              <a:spcBef>
                <a:spcPts val="0"/>
              </a:spcBef>
            </a:pPr>
            <a:r>
              <a:rPr lang="pt-BR" sz="5800" b="1" dirty="0">
                <a:solidFill>
                  <a:schemeClr val="tx1"/>
                </a:solidFill>
              </a:rPr>
              <a:t>INTRODUÇÃO</a:t>
            </a:r>
            <a:endParaRPr lang="pt-BR" sz="5800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3000" dirty="0">
                <a:solidFill>
                  <a:schemeClr val="tx1"/>
                </a:solidFill>
              </a:rPr>
              <a:t>Como desafio, a equipe decidiu explorar sobre aprendizado de máquina com o uso de redes neurais, propondo-se a treinar um modelo que, dado certos atributos de uma transação com cartão de crédito, fosse feita uma previsão sobre a possível ocorrência de fraude ou não. </a:t>
            </a:r>
          </a:p>
          <a:p>
            <a:pPr algn="just">
              <a:spcBef>
                <a:spcPts val="0"/>
              </a:spcBef>
            </a:pPr>
            <a:r>
              <a:rPr lang="pt-BR" sz="3000" dirty="0">
                <a:solidFill>
                  <a:schemeClr val="tx1"/>
                </a:solidFill>
              </a:rPr>
              <a:t>Sabe-se que instituições financeiras e bancos já utilizam alguns sistemas para fornecer mais segurança aos seus clientes e, imagina-se, que alguns até utilizem técnicas parecidas com as estudadas neste trabalho, dada a situação de insegurança no país sobre o tema</a:t>
            </a:r>
            <a:r>
              <a:rPr lang="pt-BR" sz="3000" baseline="30000" dirty="0">
                <a:solidFill>
                  <a:schemeClr val="tx1"/>
                </a:solidFill>
              </a:rPr>
              <a:t> [1]</a:t>
            </a:r>
            <a:r>
              <a:rPr lang="pt-BR" sz="3000" dirty="0">
                <a:solidFill>
                  <a:schemeClr val="tx1"/>
                </a:solidFill>
              </a:rPr>
              <a:t>.</a:t>
            </a:r>
          </a:p>
          <a:p>
            <a:pPr algn="just">
              <a:spcBef>
                <a:spcPts val="0"/>
              </a:spcBef>
            </a:pPr>
            <a:r>
              <a:rPr lang="pt-BR" sz="3000" dirty="0">
                <a:solidFill>
                  <a:schemeClr val="tx1"/>
                </a:solidFill>
              </a:rPr>
              <a:t>Para realização do trabalho, foi utilizado um </a:t>
            </a:r>
            <a:r>
              <a:rPr lang="pt-BR" sz="3000" i="1" dirty="0" err="1">
                <a:solidFill>
                  <a:schemeClr val="tx1"/>
                </a:solidFill>
              </a:rPr>
              <a:t>dataset</a:t>
            </a:r>
            <a:r>
              <a:rPr lang="pt-BR" sz="3000" dirty="0">
                <a:solidFill>
                  <a:schemeClr val="tx1"/>
                </a:solidFill>
              </a:rPr>
              <a:t> disponível no </a:t>
            </a:r>
            <a:r>
              <a:rPr lang="pt-BR" sz="3000" i="1" dirty="0">
                <a:solidFill>
                  <a:schemeClr val="tx1"/>
                </a:solidFill>
              </a:rPr>
              <a:t>website</a:t>
            </a:r>
            <a:r>
              <a:rPr lang="pt-BR" sz="3000" dirty="0">
                <a:solidFill>
                  <a:schemeClr val="tx1"/>
                </a:solidFill>
              </a:rPr>
              <a:t> “</a:t>
            </a:r>
            <a:r>
              <a:rPr lang="pt-BR" sz="3000" dirty="0" err="1">
                <a:solidFill>
                  <a:schemeClr val="tx1"/>
                </a:solidFill>
              </a:rPr>
              <a:t>Kaggle</a:t>
            </a:r>
            <a:r>
              <a:rPr lang="pt-BR" sz="3000" dirty="0">
                <a:solidFill>
                  <a:schemeClr val="tx1"/>
                </a:solidFill>
              </a:rPr>
              <a:t>”</a:t>
            </a:r>
            <a:r>
              <a:rPr lang="pt-BR" sz="3000" baseline="30000" dirty="0">
                <a:solidFill>
                  <a:schemeClr val="tx1"/>
                </a:solidFill>
              </a:rPr>
              <a:t> [2]</a:t>
            </a:r>
            <a:r>
              <a:rPr lang="pt-BR" sz="3000" dirty="0">
                <a:solidFill>
                  <a:schemeClr val="tx1"/>
                </a:solidFill>
              </a:rPr>
              <a:t>, com um milhão de linhas de dados sobre transações variadas e variáveis previsoras como: </a:t>
            </a:r>
          </a:p>
          <a:p>
            <a:pPr marL="571500" indent="-571500" algn="just">
              <a:spcBef>
                <a:spcPts val="0"/>
              </a:spcBef>
              <a:buAutoNum type="romanLcParenR"/>
            </a:pPr>
            <a:r>
              <a:rPr lang="pt-BR" sz="2800" dirty="0">
                <a:solidFill>
                  <a:schemeClr val="tx1"/>
                </a:solidFill>
              </a:rPr>
              <a:t>“distância entre o local da transação e a casa do possuidor do cartão”; </a:t>
            </a:r>
          </a:p>
          <a:p>
            <a:pPr marL="571500" indent="-571500" algn="just">
              <a:spcBef>
                <a:spcPts val="0"/>
              </a:spcBef>
              <a:buAutoNum type="romanLcParenR"/>
            </a:pPr>
            <a:r>
              <a:rPr lang="pt-BR" sz="2800" dirty="0">
                <a:solidFill>
                  <a:schemeClr val="tx1"/>
                </a:solidFill>
              </a:rPr>
              <a:t> “distância entre a transação atual e a última transação”;  </a:t>
            </a:r>
          </a:p>
          <a:p>
            <a:pPr marL="571500" indent="-571500" algn="just">
              <a:spcBef>
                <a:spcPts val="0"/>
              </a:spcBef>
              <a:buAutoNum type="romanLcParenR"/>
            </a:pPr>
            <a:r>
              <a:rPr lang="pt-BR" sz="2800" dirty="0">
                <a:solidFill>
                  <a:schemeClr val="tx1"/>
                </a:solidFill>
              </a:rPr>
              <a:t>“razão entre o preço da atual transação para a média de transações”; </a:t>
            </a:r>
          </a:p>
          <a:p>
            <a:pPr marL="571500" indent="-571500" algn="just">
              <a:spcBef>
                <a:spcPts val="0"/>
              </a:spcBef>
              <a:buAutoNum type="romanLcParenR"/>
            </a:pPr>
            <a:r>
              <a:rPr lang="pt-BR" sz="2800" dirty="0">
                <a:solidFill>
                  <a:schemeClr val="tx1"/>
                </a:solidFill>
              </a:rPr>
              <a:t>“se a transação atual foi realizada junto ao mesmo vendedor da anterior”; </a:t>
            </a:r>
          </a:p>
          <a:p>
            <a:pPr marL="571500" indent="-571500" algn="just">
              <a:spcBef>
                <a:spcPts val="0"/>
              </a:spcBef>
              <a:buAutoNum type="romanLcParenR"/>
            </a:pPr>
            <a:r>
              <a:rPr lang="pt-BR" sz="2800" dirty="0">
                <a:solidFill>
                  <a:schemeClr val="tx1"/>
                </a:solidFill>
              </a:rPr>
              <a:t>“se a transação atual utilizou o </a:t>
            </a:r>
            <a:r>
              <a:rPr lang="pt-BR" sz="2800" i="1" dirty="0">
                <a:solidFill>
                  <a:schemeClr val="tx1"/>
                </a:solidFill>
              </a:rPr>
              <a:t>chip </a:t>
            </a:r>
            <a:r>
              <a:rPr lang="pt-BR" sz="2800" dirty="0">
                <a:solidFill>
                  <a:schemeClr val="tx1"/>
                </a:solidFill>
              </a:rPr>
              <a:t>de segurança”; </a:t>
            </a:r>
          </a:p>
          <a:p>
            <a:pPr marL="571500" indent="-571500" algn="just">
              <a:spcBef>
                <a:spcPts val="0"/>
              </a:spcBef>
              <a:buAutoNum type="romanLcParenR"/>
            </a:pPr>
            <a:r>
              <a:rPr lang="pt-BR" sz="2800" dirty="0">
                <a:solidFill>
                  <a:schemeClr val="tx1"/>
                </a:solidFill>
              </a:rPr>
              <a:t>“se a transação utilizou um método de autenticação, como </a:t>
            </a:r>
            <a:r>
              <a:rPr lang="pt-BR" sz="2800" i="1" dirty="0">
                <a:solidFill>
                  <a:schemeClr val="tx1"/>
                </a:solidFill>
              </a:rPr>
              <a:t>pin </a:t>
            </a:r>
            <a:r>
              <a:rPr lang="pt-BR" sz="2800" i="1" dirty="0" err="1">
                <a:solidFill>
                  <a:schemeClr val="tx1"/>
                </a:solidFill>
              </a:rPr>
              <a:t>number</a:t>
            </a:r>
            <a:r>
              <a:rPr lang="pt-BR" sz="2800" dirty="0">
                <a:solidFill>
                  <a:schemeClr val="tx1"/>
                </a:solidFill>
              </a:rPr>
              <a:t> (senha)”; e</a:t>
            </a:r>
          </a:p>
          <a:p>
            <a:pPr marL="571500" indent="-571500" algn="just">
              <a:spcBef>
                <a:spcPts val="0"/>
              </a:spcBef>
              <a:buAutoNum type="romanLcParenR"/>
            </a:pPr>
            <a:r>
              <a:rPr lang="pt-BR" sz="2800" dirty="0">
                <a:solidFill>
                  <a:schemeClr val="tx1"/>
                </a:solidFill>
              </a:rPr>
              <a:t> “se a transação foi realizada de forma online”. Finalmente, há ainda uma variável meta, informando se aquela entrada é ou não uma transação em fraude.</a:t>
            </a:r>
          </a:p>
          <a:p>
            <a:pPr algn="just">
              <a:spcBef>
                <a:spcPts val="0"/>
              </a:spcBef>
            </a:pPr>
            <a:endParaRPr lang="pt-BR" sz="30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5800" b="1" dirty="0">
                <a:solidFill>
                  <a:schemeClr val="tx1"/>
                </a:solidFill>
              </a:rPr>
              <a:t>METODOLOGIA</a:t>
            </a:r>
          </a:p>
          <a:p>
            <a:pPr algn="just">
              <a:spcBef>
                <a:spcPts val="0"/>
              </a:spcBef>
            </a:pPr>
            <a:r>
              <a:rPr lang="pt-BR" sz="3000" dirty="0">
                <a:solidFill>
                  <a:schemeClr val="tx1"/>
                </a:solidFill>
              </a:rPr>
              <a:t>O modelo previsor foi treinado em </a:t>
            </a:r>
            <a:r>
              <a:rPr lang="pt-BR" sz="3000" i="1" dirty="0" err="1">
                <a:solidFill>
                  <a:schemeClr val="tx1"/>
                </a:solidFill>
              </a:rPr>
              <a:t>Jupyter</a:t>
            </a:r>
            <a:r>
              <a:rPr lang="pt-BR" sz="3000" i="1" dirty="0">
                <a:solidFill>
                  <a:schemeClr val="tx1"/>
                </a:solidFill>
              </a:rPr>
              <a:t> Notebooks. </a:t>
            </a:r>
            <a:r>
              <a:rPr lang="pt-BR" sz="3000" dirty="0">
                <a:solidFill>
                  <a:schemeClr val="tx1"/>
                </a:solidFill>
              </a:rPr>
              <a:t>Foram utilizadas diversas técnicas no aprendizado de máquina com redes neurais, incluindo etapas como: análise de dados; pré-processamento e tratamento de dados; configuração da rede utilizando o classificador MLP (</a:t>
            </a:r>
            <a:r>
              <a:rPr lang="pt-BR" sz="3000" i="1" dirty="0" err="1">
                <a:solidFill>
                  <a:schemeClr val="tx1"/>
                </a:solidFill>
              </a:rPr>
              <a:t>Multi-layer</a:t>
            </a:r>
            <a:r>
              <a:rPr lang="pt-BR" sz="3000" i="1" dirty="0">
                <a:solidFill>
                  <a:schemeClr val="tx1"/>
                </a:solidFill>
              </a:rPr>
              <a:t> </a:t>
            </a:r>
            <a:r>
              <a:rPr lang="pt-BR" sz="3000" i="1" dirty="0" err="1">
                <a:solidFill>
                  <a:schemeClr val="tx1"/>
                </a:solidFill>
              </a:rPr>
              <a:t>Perceptron</a:t>
            </a:r>
            <a:r>
              <a:rPr lang="pt-BR" sz="3000" dirty="0">
                <a:solidFill>
                  <a:schemeClr val="tx1"/>
                </a:solidFill>
              </a:rPr>
              <a:t>). Dentre as etapas destacam-se: </a:t>
            </a:r>
          </a:p>
          <a:p>
            <a:pPr marL="571500" indent="-571500" algn="just">
              <a:spcBef>
                <a:spcPts val="0"/>
              </a:spcBef>
              <a:buAutoNum type="romanLcParenR"/>
            </a:pPr>
            <a:r>
              <a:rPr lang="pt-BR" sz="2800" dirty="0">
                <a:solidFill>
                  <a:schemeClr val="tx1"/>
                </a:solidFill>
              </a:rPr>
              <a:t>descrição e análise dos dados em estudo, inclusive do tipo de dado na entrada, e se existem dados em branco ou divergentes;</a:t>
            </a:r>
          </a:p>
          <a:p>
            <a:pPr marL="571500" indent="-571500" algn="just">
              <a:spcBef>
                <a:spcPts val="0"/>
              </a:spcBef>
              <a:buAutoNum type="romanLcParenR"/>
            </a:pPr>
            <a:r>
              <a:rPr lang="pt-BR" sz="2800" dirty="0">
                <a:solidFill>
                  <a:schemeClr val="tx1"/>
                </a:solidFill>
              </a:rPr>
              <a:t>verificação das correlações entre os dados apresentados, de forma a possibilitar a limpeza do </a:t>
            </a:r>
            <a:r>
              <a:rPr lang="pt-BR" sz="2800" i="1" dirty="0" err="1">
                <a:solidFill>
                  <a:schemeClr val="tx1"/>
                </a:solidFill>
              </a:rPr>
              <a:t>dataset</a:t>
            </a:r>
            <a:r>
              <a:rPr lang="pt-BR" sz="2800" dirty="0">
                <a:solidFill>
                  <a:schemeClr val="tx1"/>
                </a:solidFill>
              </a:rPr>
              <a:t> para manter apenas as informações mais pertinentes para a análise. Os resultados do estudo da correlação já tratadas são apresentados na matriz da Figura 1, representando apenas as 4 variáveis previsoras com maior pertinência em relação à meta; </a:t>
            </a:r>
          </a:p>
          <a:p>
            <a:pPr marL="571500" indent="-571500" algn="just">
              <a:spcBef>
                <a:spcPts val="0"/>
              </a:spcBef>
              <a:buAutoNum type="romanLcParenR"/>
            </a:pPr>
            <a:r>
              <a:rPr lang="pt-BR" sz="2800" dirty="0">
                <a:solidFill>
                  <a:schemeClr val="tx1"/>
                </a:solidFill>
              </a:rPr>
              <a:t>definição de amostragem proporcional entre as ocorrências de fraude ou não, de forma a não introduzir viés no modelo. Esta etapa foi necessária porque o </a:t>
            </a:r>
            <a:r>
              <a:rPr lang="pt-BR" sz="2800" i="1" dirty="0" err="1">
                <a:solidFill>
                  <a:schemeClr val="tx1"/>
                </a:solidFill>
              </a:rPr>
              <a:t>dataset</a:t>
            </a:r>
            <a:r>
              <a:rPr lang="pt-BR" sz="2800" i="1" dirty="0">
                <a:solidFill>
                  <a:schemeClr val="tx1"/>
                </a:solidFill>
              </a:rPr>
              <a:t> </a:t>
            </a:r>
            <a:r>
              <a:rPr lang="pt-BR" sz="2800" dirty="0">
                <a:solidFill>
                  <a:schemeClr val="tx1"/>
                </a:solidFill>
              </a:rPr>
              <a:t>analisado possuía, aproximadamente, 12 vezes mais ocorrências de não fraudes contra fraudes. No intuito de equilibrar o aprendizado, tornamos essa relação 1:1, utilizando 87.000 ocorrências de fraude e 87.000 sem fraude, totalizando 174.000 linhas de dados no treinamento; </a:t>
            </a:r>
          </a:p>
          <a:p>
            <a:pPr marL="571500" indent="-571500" algn="just">
              <a:spcBef>
                <a:spcPts val="0"/>
              </a:spcBef>
              <a:buAutoNum type="romanLcParenR"/>
            </a:pPr>
            <a:r>
              <a:rPr lang="pt-BR" sz="2800" dirty="0">
                <a:solidFill>
                  <a:schemeClr val="tx1"/>
                </a:solidFill>
              </a:rPr>
              <a:t>normalização dos dados, de forma a não </a:t>
            </a:r>
            <a:r>
              <a:rPr lang="pt-BR" sz="2800" dirty="0" err="1">
                <a:solidFill>
                  <a:schemeClr val="tx1"/>
                </a:solidFill>
              </a:rPr>
              <a:t>desbalancear</a:t>
            </a:r>
            <a:r>
              <a:rPr lang="pt-BR" sz="2800" dirty="0">
                <a:solidFill>
                  <a:schemeClr val="tx1"/>
                </a:solidFill>
              </a:rPr>
              <a:t> o treinamento. Essa etapa é necessária porque alguns dados apresentam escala numérica bem mais ampla do que outras, por exemplo, “distância entre o local da transação e a casa do possuidor do cartão” x “utilização de </a:t>
            </a:r>
            <a:r>
              <a:rPr lang="pt-BR" sz="2800" i="1" dirty="0">
                <a:solidFill>
                  <a:schemeClr val="tx1"/>
                </a:solidFill>
              </a:rPr>
              <a:t>pin</a:t>
            </a:r>
            <a:r>
              <a:rPr lang="pt-BR" sz="2800" dirty="0">
                <a:solidFill>
                  <a:schemeClr val="tx1"/>
                </a:solidFill>
              </a:rPr>
              <a:t> (senha)”. Não utilizar esse passo traria muito mais peso para as variáveis previsores com escala ampla, distorcendo o resultado do aprendizado; </a:t>
            </a:r>
          </a:p>
          <a:p>
            <a:pPr marL="571500" indent="-571500" algn="just">
              <a:spcBef>
                <a:spcPts val="0"/>
              </a:spcBef>
              <a:buAutoNum type="romanLcParenR"/>
            </a:pPr>
            <a:r>
              <a:rPr lang="pt-BR" sz="2800" dirty="0">
                <a:solidFill>
                  <a:schemeClr val="tx1"/>
                </a:solidFill>
              </a:rPr>
              <a:t>separação dos dados entre porção de treinamento (70% das ocorrências) e porção de teste dos resultados (30%); </a:t>
            </a:r>
          </a:p>
          <a:p>
            <a:pPr marL="571500" indent="-571500" algn="just">
              <a:spcBef>
                <a:spcPts val="0"/>
              </a:spcBef>
              <a:buAutoNum type="romanLcParenR"/>
            </a:pPr>
            <a:r>
              <a:rPr lang="pt-BR" sz="2800" dirty="0">
                <a:solidFill>
                  <a:schemeClr val="tx1"/>
                </a:solidFill>
              </a:rPr>
              <a:t>definição da rede neural MLP com 6 camadas ocultas – de 5, 10, 20, 35, 10, 5 neurônios, respectivamente – , número máximo de 5000 iterações no treinamento, função de ativação “</a:t>
            </a:r>
            <a:r>
              <a:rPr lang="pt-BR" sz="2800" dirty="0" err="1">
                <a:solidFill>
                  <a:schemeClr val="tx1"/>
                </a:solidFill>
              </a:rPr>
              <a:t>reLU</a:t>
            </a:r>
            <a:r>
              <a:rPr lang="pt-BR" sz="2800" dirty="0">
                <a:solidFill>
                  <a:schemeClr val="tx1"/>
                </a:solidFill>
              </a:rPr>
              <a:t>”, resolvedor “adam”, taxa de aprendizado constante e tolerância de 1x10</a:t>
            </a:r>
            <a:r>
              <a:rPr lang="pt-BR" sz="2800" baseline="30000" dirty="0">
                <a:solidFill>
                  <a:schemeClr val="tx1"/>
                </a:solidFill>
              </a:rPr>
              <a:t>-5</a:t>
            </a:r>
            <a:r>
              <a:rPr lang="pt-BR" sz="2800" dirty="0">
                <a:solidFill>
                  <a:schemeClr val="tx1"/>
                </a:solidFill>
              </a:rPr>
              <a:t> ;</a:t>
            </a:r>
          </a:p>
          <a:p>
            <a:pPr marL="571500" indent="-571500" algn="just">
              <a:spcBef>
                <a:spcPts val="0"/>
              </a:spcBef>
              <a:buAutoNum type="romanLcParenR"/>
            </a:pPr>
            <a:r>
              <a:rPr lang="pt-BR" sz="2800" dirty="0">
                <a:solidFill>
                  <a:schemeClr val="tx1"/>
                </a:solidFill>
              </a:rPr>
              <a:t>treinamento do modelo preditivo; </a:t>
            </a:r>
          </a:p>
          <a:p>
            <a:pPr marL="571500" indent="-571500" algn="just">
              <a:spcBef>
                <a:spcPts val="0"/>
              </a:spcBef>
              <a:buAutoNum type="romanLcParenR"/>
            </a:pPr>
            <a:r>
              <a:rPr lang="pt-BR" sz="2800" dirty="0">
                <a:solidFill>
                  <a:schemeClr val="tx1"/>
                </a:solidFill>
              </a:rPr>
              <a:t>aplicação do modelo treinado preditivo a sobre a proporção restante dos dados (proporção dos testes); e </a:t>
            </a:r>
          </a:p>
          <a:p>
            <a:pPr marL="571500" indent="-571500" algn="just">
              <a:spcBef>
                <a:spcPts val="0"/>
              </a:spcBef>
              <a:buAutoNum type="romanLcParenR"/>
            </a:pPr>
            <a:r>
              <a:rPr lang="pt-BR" sz="2800" dirty="0">
                <a:solidFill>
                  <a:schemeClr val="tx1"/>
                </a:solidFill>
              </a:rPr>
              <a:t>aferição das qualidades do modelo, levando em consideração fatores como precisão e sensibilidade. </a:t>
            </a:r>
          </a:p>
          <a:p>
            <a:pPr algn="just">
              <a:spcBef>
                <a:spcPts val="0"/>
              </a:spcBef>
            </a:pPr>
            <a:endParaRPr lang="pt-BR" sz="2800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5800" b="1" dirty="0">
                <a:solidFill>
                  <a:schemeClr val="tx1"/>
                </a:solidFill>
              </a:rPr>
              <a:t>RESULTADOS</a:t>
            </a:r>
          </a:p>
          <a:p>
            <a:pPr algn="just">
              <a:spcBef>
                <a:spcPts val="0"/>
              </a:spcBef>
            </a:pPr>
            <a:r>
              <a:rPr lang="pt-BR" sz="3000" dirty="0">
                <a:solidFill>
                  <a:schemeClr val="tx1"/>
                </a:solidFill>
              </a:rPr>
              <a:t>Depois de diversos treinamentos, chegamos a um resultado final de 93,54% de precisão nos casos meta de inocorrência de fraudes (</a:t>
            </a:r>
            <a:r>
              <a:rPr lang="pt-BR" sz="3000" i="1" dirty="0">
                <a:solidFill>
                  <a:schemeClr val="tx1"/>
                </a:solidFill>
              </a:rPr>
              <a:t>false-false</a:t>
            </a:r>
            <a:r>
              <a:rPr lang="pt-BR" sz="3000" dirty="0">
                <a:solidFill>
                  <a:schemeClr val="tx1"/>
                </a:solidFill>
              </a:rPr>
              <a:t>) e de 97,19% de precisão para os casos meta de verdadeiros positivos (</a:t>
            </a:r>
            <a:r>
              <a:rPr lang="pt-BR" sz="3000" i="1" dirty="0" err="1">
                <a:solidFill>
                  <a:schemeClr val="tx1"/>
                </a:solidFill>
              </a:rPr>
              <a:t>true-true</a:t>
            </a:r>
            <a:r>
              <a:rPr lang="pt-BR" sz="3000" dirty="0">
                <a:solidFill>
                  <a:schemeClr val="tx1"/>
                </a:solidFill>
              </a:rPr>
              <a:t>), conforme mapa de calor da Figura 2 ao lado. Além disso, nosso treinamento apresentou uma métrica de </a:t>
            </a:r>
            <a:r>
              <a:rPr lang="pt-BR" sz="3000" i="1" dirty="0">
                <a:solidFill>
                  <a:schemeClr val="tx1"/>
                </a:solidFill>
              </a:rPr>
              <a:t>recall</a:t>
            </a:r>
            <a:r>
              <a:rPr lang="pt-BR" sz="3000" dirty="0">
                <a:solidFill>
                  <a:schemeClr val="tx1"/>
                </a:solidFill>
              </a:rPr>
              <a:t> (</a:t>
            </a:r>
            <a:r>
              <a:rPr lang="pt-BR" sz="3000" dirty="0" err="1">
                <a:solidFill>
                  <a:schemeClr val="tx1"/>
                </a:solidFill>
              </a:rPr>
              <a:t>revocação</a:t>
            </a:r>
            <a:r>
              <a:rPr lang="pt-BR" sz="3000" dirty="0">
                <a:solidFill>
                  <a:schemeClr val="tx1"/>
                </a:solidFill>
              </a:rPr>
              <a:t>) de 97% nos casos de incorrências de fraude e de 93% para os casos de ocorrência de fraude. Na métrica </a:t>
            </a:r>
            <a:r>
              <a:rPr lang="pt-BR" sz="3000" i="1" dirty="0">
                <a:solidFill>
                  <a:schemeClr val="tx1"/>
                </a:solidFill>
              </a:rPr>
              <a:t>f1-score</a:t>
            </a:r>
            <a:r>
              <a:rPr lang="pt-BR" sz="3000" dirty="0">
                <a:solidFill>
                  <a:schemeClr val="tx1"/>
                </a:solidFill>
              </a:rPr>
              <a:t>, que representa um equilíbrio entre as duas primeiras, atingimos o valor de 95%, o que foi considerado satisfatório.</a:t>
            </a:r>
          </a:p>
          <a:p>
            <a:pPr algn="just">
              <a:spcBef>
                <a:spcPts val="0"/>
              </a:spcBef>
            </a:pPr>
            <a:endParaRPr lang="pt-BR" sz="2800" dirty="0">
              <a:solidFill>
                <a:schemeClr val="tx1"/>
              </a:solidFill>
            </a:endParaRPr>
          </a:p>
        </p:txBody>
      </p:sp>
      <p:sp>
        <p:nvSpPr>
          <p:cNvPr id="15" name="Subtítulo 2"/>
          <p:cNvSpPr txBox="1">
            <a:spLocks/>
          </p:cNvSpPr>
          <p:nvPr/>
        </p:nvSpPr>
        <p:spPr>
          <a:xfrm>
            <a:off x="16035133" y="9966944"/>
            <a:ext cx="15576604" cy="28081844"/>
          </a:xfrm>
          <a:prstGeom prst="rect">
            <a:avLst/>
          </a:prstGeom>
          <a:noFill/>
          <a:ln>
            <a:noFill/>
          </a:ln>
        </p:spPr>
        <p:txBody>
          <a:bodyPr vert="horz" lIns="432054" tIns="216027" rIns="432054" bIns="216027" rtlCol="0" anchor="t">
            <a:noAutofit/>
          </a:bodyPr>
          <a:lstStyle/>
          <a:p>
            <a:r>
              <a:rPr lang="pt-BR" sz="4400" b="1" dirty="0"/>
              <a:t>Figura 1 – Análise de correlação entre os dados</a:t>
            </a:r>
            <a:endParaRPr lang="pt-BR" sz="4400" b="1" dirty="0">
              <a:ea typeface="Calibri"/>
              <a:cs typeface="Calibri"/>
            </a:endParaRPr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lvl="0">
              <a:defRPr/>
            </a:pPr>
            <a:endParaRPr kumimoji="0" lang="pt-BR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lvl="0">
              <a:defRPr/>
            </a:pPr>
            <a:r>
              <a:rPr kumimoji="0" lang="pt-B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Figura 2 – Mapa de calor</a:t>
            </a:r>
            <a:r>
              <a:rPr lang="pt-BR" sz="4400" b="1" dirty="0"/>
              <a:t> das precisões das previsões</a:t>
            </a:r>
            <a:endParaRPr kumimoji="0" lang="pt-BR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algn="just">
              <a:spcBef>
                <a:spcPts val="0"/>
              </a:spcBef>
            </a:pPr>
            <a:endParaRPr lang="pt-BR" sz="6600" b="1" dirty="0"/>
          </a:p>
          <a:p>
            <a:pPr algn="just">
              <a:spcBef>
                <a:spcPts val="0"/>
              </a:spcBef>
            </a:pPr>
            <a:endParaRPr lang="pt-BR" sz="6600" b="1" dirty="0"/>
          </a:p>
          <a:p>
            <a:pPr algn="just">
              <a:spcBef>
                <a:spcPts val="0"/>
              </a:spcBef>
            </a:pPr>
            <a:endParaRPr lang="pt-BR" sz="6600" b="1" dirty="0"/>
          </a:p>
          <a:p>
            <a:pPr algn="just">
              <a:spcBef>
                <a:spcPts val="0"/>
              </a:spcBef>
            </a:pPr>
            <a:endParaRPr lang="pt-BR" sz="6600" b="1" dirty="0"/>
          </a:p>
          <a:p>
            <a:pPr algn="just">
              <a:spcBef>
                <a:spcPts val="0"/>
              </a:spcBef>
            </a:pPr>
            <a:endParaRPr lang="pt-BR" sz="6600" b="1" dirty="0"/>
          </a:p>
          <a:p>
            <a:pPr algn="just">
              <a:spcBef>
                <a:spcPts val="0"/>
              </a:spcBef>
            </a:pPr>
            <a:endParaRPr lang="pt-BR" sz="6600" b="1" dirty="0"/>
          </a:p>
          <a:p>
            <a:pPr algn="just">
              <a:spcBef>
                <a:spcPts val="0"/>
              </a:spcBef>
            </a:pPr>
            <a:endParaRPr lang="pt-BR" sz="6600" b="1" dirty="0"/>
          </a:p>
          <a:p>
            <a:pPr algn="just">
              <a:spcBef>
                <a:spcPts val="0"/>
              </a:spcBef>
            </a:pPr>
            <a:endParaRPr lang="pt-BR" sz="6600" b="1" dirty="0"/>
          </a:p>
          <a:p>
            <a:pPr algn="just">
              <a:spcBef>
                <a:spcPts val="0"/>
              </a:spcBef>
            </a:pPr>
            <a:endParaRPr lang="pt-BR" sz="3200" b="1" dirty="0"/>
          </a:p>
          <a:p>
            <a:pPr algn="just">
              <a:spcBef>
                <a:spcPts val="0"/>
              </a:spcBef>
            </a:pPr>
            <a:endParaRPr lang="pt-BR" sz="3200" b="1" dirty="0"/>
          </a:p>
          <a:p>
            <a:pPr algn="just">
              <a:spcBef>
                <a:spcPts val="0"/>
              </a:spcBef>
            </a:pPr>
            <a:r>
              <a:rPr lang="pt-BR" sz="5800" b="1" dirty="0"/>
              <a:t>CONCLUSÃO</a:t>
            </a:r>
          </a:p>
          <a:p>
            <a:pPr algn="just">
              <a:spcBef>
                <a:spcPts val="0"/>
              </a:spcBef>
            </a:pPr>
            <a:r>
              <a:rPr lang="pt-BR" sz="3000" dirty="0"/>
              <a:t>O modelo treinado atingiu níveis de acerto altos, sendo considerado, então, robusto e eficiente para os dados utilizados. Nos casos não desejados, temos: o falso positivo e o falso negativo. Para o primeiro (</a:t>
            </a:r>
            <a:r>
              <a:rPr lang="pt-BR" sz="3000" i="1" dirty="0"/>
              <a:t>false-</a:t>
            </a:r>
            <a:r>
              <a:rPr lang="pt-BR" sz="3000" i="1" dirty="0" err="1"/>
              <a:t>true</a:t>
            </a:r>
            <a:r>
              <a:rPr lang="pt-BR" sz="3000" dirty="0"/>
              <a:t>), apesar de inconveniente, tem-se como tolerável do ponto de vista de segurança, visto que mantém a integridade financeira do cliente e é possível realizar uma nova transação. Já ao prestigiarmos mais a precisão nos casos de positivo-positivo (</a:t>
            </a:r>
            <a:r>
              <a:rPr lang="pt-BR" sz="3000" dirty="0" err="1"/>
              <a:t>true-true</a:t>
            </a:r>
            <a:r>
              <a:rPr lang="pt-BR" sz="3000" dirty="0"/>
              <a:t>), limitamos drasticamente a ocorrência de falsos negativos (</a:t>
            </a:r>
            <a:r>
              <a:rPr lang="pt-BR" sz="3000" i="1" dirty="0" err="1"/>
              <a:t>true</a:t>
            </a:r>
            <a:r>
              <a:rPr lang="pt-BR" sz="3000" i="1" dirty="0"/>
              <a:t>-false</a:t>
            </a:r>
            <a:r>
              <a:rPr lang="pt-BR" sz="3000" dirty="0"/>
              <a:t>), a um percentual de apenas 2,81%, sendo este o caso mais indesejado, visto que um modelo mal dimensionado não perceberia ocorrências de fraudes efetivas o que poderia gerar prejuízos ao cliente.</a:t>
            </a:r>
          </a:p>
          <a:p>
            <a:pPr algn="just"/>
            <a:r>
              <a:rPr lang="pt-BR" sz="3000" dirty="0"/>
              <a:t>Em conclusão, percebe-se que o aprendizado de máquina pode ser um aliado valioso na luta contra fraudes bancárias e financeiras, capaz de criar modelos preditivos confiáveis para a automatização de análises. </a:t>
            </a:r>
          </a:p>
          <a:p>
            <a:pPr algn="just"/>
            <a:r>
              <a:rPr lang="pt-BR" sz="3000" dirty="0"/>
              <a:t>Ademais, viu-se que existem diversas técnicas de redes neurais capazes de sustentarem o aprendizado de máquina e que a qualidade dos modelos treinados progridem à medida que o entendimento sobre o caso e o domínio sobre os dados utilizados avançam. </a:t>
            </a:r>
          </a:p>
          <a:p>
            <a:pPr algn="just"/>
            <a:r>
              <a:rPr lang="pt-BR" sz="3000" dirty="0"/>
              <a:t>Também é interessante, se possível, a realização de diversas rodadas de treinamento, no intuito de testar diferentes parâmetros e ajustes na tentativa de obter o melhor modelo previsor possível.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324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457200"/>
            <a:ext cx="324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7" name="Subtítulo 2"/>
          <p:cNvSpPr txBox="1">
            <a:spLocks/>
          </p:cNvSpPr>
          <p:nvPr/>
        </p:nvSpPr>
        <p:spPr>
          <a:xfrm>
            <a:off x="861805" y="38668596"/>
            <a:ext cx="30749932" cy="3743140"/>
          </a:xfrm>
          <a:prstGeom prst="rect">
            <a:avLst/>
          </a:prstGeom>
          <a:ln>
            <a:noFill/>
          </a:ln>
        </p:spPr>
        <p:txBody>
          <a:bodyPr vert="horz" lIns="432054" tIns="216027" rIns="432054" bIns="216027" rtlCol="0" anchor="t">
            <a:noAutofit/>
          </a:bodyPr>
          <a:lstStyle>
            <a:lvl1pPr marL="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5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16027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32054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48081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64108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80135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6162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12189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28216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pt-BR" sz="4000" b="1" dirty="0">
                <a:solidFill>
                  <a:schemeClr val="tx1"/>
                </a:solidFill>
              </a:rPr>
              <a:t>REFERÊNCIAS BIBLIOGRÁFICAS</a:t>
            </a:r>
          </a:p>
          <a:p>
            <a:pPr algn="just">
              <a:spcBef>
                <a:spcPts val="0"/>
              </a:spcBef>
            </a:pPr>
            <a:endParaRPr lang="pt-BR" sz="28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3200" b="1" dirty="0">
                <a:solidFill>
                  <a:schemeClr val="tx1"/>
                </a:solidFill>
              </a:rPr>
              <a:t>1. VEJA. Brasil é o segundo país com maior índice de fraudes. Disponível em: &lt;https://veja.abril.com.br/economia/brasil-e-o-segundo-pais-com-maior-</a:t>
            </a:r>
            <a:r>
              <a:rPr lang="pt-BR" sz="3200" b="1" dirty="0" err="1">
                <a:solidFill>
                  <a:schemeClr val="tx1"/>
                </a:solidFill>
              </a:rPr>
              <a:t>indice</a:t>
            </a:r>
            <a:r>
              <a:rPr lang="pt-BR" sz="3200" b="1" dirty="0">
                <a:solidFill>
                  <a:schemeClr val="tx1"/>
                </a:solidFill>
              </a:rPr>
              <a:t>-</a:t>
            </a:r>
            <a:r>
              <a:rPr lang="pt-BR" sz="3200" b="1" dirty="0" err="1">
                <a:solidFill>
                  <a:schemeClr val="tx1"/>
                </a:solidFill>
              </a:rPr>
              <a:t>de-fraudes</a:t>
            </a:r>
            <a:r>
              <a:rPr lang="pt-BR" sz="3200" b="1" dirty="0">
                <a:solidFill>
                  <a:schemeClr val="tx1"/>
                </a:solidFill>
              </a:rPr>
              <a:t>/&gt;. Acesso em: 19 nov. 2025.</a:t>
            </a:r>
          </a:p>
          <a:p>
            <a:pPr algn="just">
              <a:spcBef>
                <a:spcPts val="0"/>
              </a:spcBef>
            </a:pPr>
            <a:endParaRPr lang="pt-BR" sz="32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3200" b="1" dirty="0">
                <a:solidFill>
                  <a:schemeClr val="tx1"/>
                </a:solidFill>
              </a:rPr>
              <a:t>2. DHANUSH, </a:t>
            </a:r>
            <a:r>
              <a:rPr lang="pt-BR" sz="3200" b="1" dirty="0" err="1">
                <a:solidFill>
                  <a:schemeClr val="tx1"/>
                </a:solidFill>
              </a:rPr>
              <a:t>Narayanan</a:t>
            </a:r>
            <a:r>
              <a:rPr lang="pt-BR" sz="3200" b="1" dirty="0">
                <a:solidFill>
                  <a:schemeClr val="tx1"/>
                </a:solidFill>
              </a:rPr>
              <a:t> R. </a:t>
            </a:r>
            <a:r>
              <a:rPr lang="pt-BR" sz="3200" b="1" dirty="0" err="1">
                <a:solidFill>
                  <a:schemeClr val="tx1"/>
                </a:solidFill>
              </a:rPr>
              <a:t>Credit</a:t>
            </a:r>
            <a:r>
              <a:rPr lang="pt-BR" sz="3200" b="1" dirty="0">
                <a:solidFill>
                  <a:schemeClr val="tx1"/>
                </a:solidFill>
              </a:rPr>
              <a:t> card </a:t>
            </a:r>
            <a:r>
              <a:rPr lang="pt-BR" sz="3200" b="1" dirty="0" err="1">
                <a:solidFill>
                  <a:schemeClr val="tx1"/>
                </a:solidFill>
              </a:rPr>
              <a:t>fraud</a:t>
            </a:r>
            <a:r>
              <a:rPr lang="pt-BR" sz="3200" b="1" dirty="0">
                <a:solidFill>
                  <a:schemeClr val="tx1"/>
                </a:solidFill>
              </a:rPr>
              <a:t>. , 7 maio 2022. Acesso em: 31 out. 2025. Disponível em: &lt;https://www.kaggle.com/</a:t>
            </a:r>
            <a:r>
              <a:rPr lang="pt-BR" sz="3200" b="1" dirty="0" err="1">
                <a:solidFill>
                  <a:schemeClr val="tx1"/>
                </a:solidFill>
              </a:rPr>
              <a:t>datasets</a:t>
            </a:r>
            <a:r>
              <a:rPr lang="pt-BR" sz="3200" b="1" dirty="0">
                <a:solidFill>
                  <a:schemeClr val="tx1"/>
                </a:solidFill>
              </a:rPr>
              <a:t>/</a:t>
            </a:r>
            <a:r>
              <a:rPr lang="pt-BR" sz="3200" b="1" dirty="0" err="1">
                <a:solidFill>
                  <a:schemeClr val="tx1"/>
                </a:solidFill>
              </a:rPr>
              <a:t>dhanushnarayananr</a:t>
            </a:r>
            <a:r>
              <a:rPr lang="pt-BR" sz="3200" b="1" dirty="0">
                <a:solidFill>
                  <a:schemeClr val="tx1"/>
                </a:solidFill>
              </a:rPr>
              <a:t>/</a:t>
            </a:r>
            <a:r>
              <a:rPr lang="pt-BR" sz="3200" b="1" dirty="0" err="1">
                <a:solidFill>
                  <a:schemeClr val="tx1"/>
                </a:solidFill>
              </a:rPr>
              <a:t>credit</a:t>
            </a:r>
            <a:r>
              <a:rPr lang="pt-BR" sz="3200" b="1" dirty="0">
                <a:solidFill>
                  <a:schemeClr val="tx1"/>
                </a:solidFill>
              </a:rPr>
              <a:t>-card-</a:t>
            </a:r>
            <a:r>
              <a:rPr lang="pt-BR" sz="3200" b="1" dirty="0" err="1">
                <a:solidFill>
                  <a:schemeClr val="tx1"/>
                </a:solidFill>
              </a:rPr>
              <a:t>fraud</a:t>
            </a:r>
            <a:r>
              <a:rPr lang="pt-BR" sz="3200" b="1" dirty="0">
                <a:solidFill>
                  <a:schemeClr val="tx1"/>
                </a:solidFill>
              </a:rPr>
              <a:t>&gt;.</a:t>
            </a:r>
          </a:p>
        </p:txBody>
      </p:sp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DE0425B4-4BBE-4119-F4E3-54908A697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1884" y="692779"/>
            <a:ext cx="7724775" cy="35530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6012876-1C84-8DE5-9B13-5905E424B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34" y="1299271"/>
            <a:ext cx="10612836" cy="2368923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3B131088-CD7A-697D-0EAD-27D059382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31757" y="10873508"/>
            <a:ext cx="13604280" cy="720080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822B44DE-A585-14DD-332D-21C8284E2B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62265" y="19586476"/>
            <a:ext cx="9533115" cy="81970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1151</TotalTime>
  <Words>1158</Words>
  <Application>Microsoft Office PowerPoint</Application>
  <PresentationFormat>Personalizar</PresentationFormat>
  <Paragraphs>55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do Office</vt:lpstr>
      <vt:lpstr>APRENDIZADO DE MÁQUINA PARA DETECÇÃO DE  FRAUDES EM TRANSAÇÕES COM CARTÕES DE CRÉDITO  George Gebers Brizolla; Júlio César de Jesus Barreto Souza; Marcelo Miranda Cavalcanti;  Pedro Lima Vergne; Zanoni Campos Fernandes; Orientador: Adailton de Jesus Cerqueira Júnior.  Universidade Salvador – Salvador – BA – Brasil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on the Beach 2011</dc:title>
  <dc:creator>Tristao</dc:creator>
  <cp:lastModifiedBy>Júlio César de Jesus Barreto Souza</cp:lastModifiedBy>
  <cp:revision>164</cp:revision>
  <dcterms:created xsi:type="dcterms:W3CDTF">2011-04-07T11:05:01Z</dcterms:created>
  <dcterms:modified xsi:type="dcterms:W3CDTF">2025-11-21T22:22:22Z</dcterms:modified>
</cp:coreProperties>
</file>